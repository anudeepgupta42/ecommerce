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4" r:id="rId4"/>
    <p:sldId id="259" r:id="rId5"/>
    <p:sldId id="260" r:id="rId6"/>
    <p:sldId id="261" r:id="rId7"/>
    <p:sldId id="265" r:id="rId8"/>
    <p:sldId id="262"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varScale="1">
        <p:scale>
          <a:sx n="69" d="100"/>
          <a:sy n="69" d="100"/>
        </p:scale>
        <p:origin x="-696" y="-10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4400" spc="200" baseline="0">
                <a:latin typeface="Calibri" panose="020F0502020204030204" pitchFamily="34"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latin typeface="Calibri" panose="020F050202020403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pPr/>
              <a:t>6/8/2018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pPr/>
              <a:t>6/8/2018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4400" b="0" spc="200" baseline="0">
                <a:latin typeface="Calibri" panose="020F0502020204030204" pitchFamily="34" charset="0"/>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latin typeface="Calibri" panose="020F050202020403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pPr/>
              <a:t>6/8/2018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pPr/>
              <a:t>6/8/2018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pPr/>
              <a:t>6/8/2018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atin typeface="Calibri" panose="020F0502020204030204" pitchFamily="34" charset="0"/>
              </a:defRPr>
            </a:lvl1p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pPr/>
              <a:t>6/8/2018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pPr/>
              <a:t>6/8/2018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pPr/>
              <a:t>6/8/2018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pPr/>
              <a:t>6/8/2018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pPr/>
              <a:t>6/8/2018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pPr/>
              <a:t>6/8/2018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6/8/2018</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Recommendations</a:t>
            </a:r>
            <a:endParaRPr lang="en-US" dirty="0"/>
          </a:p>
        </p:txBody>
      </p:sp>
      <p:sp>
        <p:nvSpPr>
          <p:cNvPr id="3" name="Subtitle 2"/>
          <p:cNvSpPr>
            <a:spLocks noGrp="1"/>
          </p:cNvSpPr>
          <p:nvPr>
            <p:ph type="subTitle" idx="1"/>
          </p:nvPr>
        </p:nvSpPr>
        <p:spPr/>
        <p:txBody>
          <a:bodyPr/>
          <a:lstStyle/>
          <a:p>
            <a:r>
              <a:rPr lang="en-US" dirty="0" smtClean="0"/>
              <a:t>Powered by SHOPPERS STOP</a:t>
            </a:r>
            <a:endParaRPr lang="en-US" dirty="0"/>
          </a:p>
        </p:txBody>
      </p:sp>
    </p:spTree>
    <p:extLst>
      <p:ext uri="{BB962C8B-B14F-4D97-AF65-F5344CB8AC3E}">
        <p14:creationId xmlns="" xmlns:p14="http://schemas.microsoft.com/office/powerpoint/2010/main" val="2317272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 and Use Case</a:t>
            </a:r>
          </a:p>
        </p:txBody>
      </p:sp>
      <p:sp>
        <p:nvSpPr>
          <p:cNvPr id="3" name="Content Placeholder 4"/>
          <p:cNvSpPr txBox="1">
            <a:spLocks/>
          </p:cNvSpPr>
          <p:nvPr/>
        </p:nvSpPr>
        <p:spPr>
          <a:xfrm>
            <a:off x="406505" y="2084832"/>
            <a:ext cx="6376432" cy="4643669"/>
          </a:xfrm>
          <a:prstGeom prst="rect">
            <a:avLst/>
          </a:prstGeom>
        </p:spPr>
        <p:txBody>
          <a:bodyPr>
            <a:normAutofit/>
          </a:bodyPr>
          <a:lstStyle>
            <a:lvl1pPr marL="457189" marR="0" indent="-457189"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1pPr>
            <a:lvl2pPr marL="1045002" marR="0" indent="-435417"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2pPr>
            <a:lvl3pPr marL="1625559" marR="0" indent="-406390"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3pPr>
            <a:lvl4pPr marL="2316422"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4pPr>
            <a:lvl5pPr marL="2926007"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5pPr>
            <a:lvl6pPr marL="3535592"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6pPr>
            <a:lvl7pPr marL="4145176"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7pPr>
            <a:lvl8pPr marL="4754760" marR="0" indent="-487666"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8pPr>
            <a:lvl9pPr marL="5364345" marR="0" indent="-487666"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9pPr>
          </a:lstStyle>
          <a:p>
            <a:pPr marL="274320" indent="-274320"/>
            <a:r>
              <a:rPr lang="en-US" sz="1600" b="1" kern="0" dirty="0" smtClean="0">
                <a:solidFill>
                  <a:schemeClr val="accent1">
                    <a:lumMod val="75000"/>
                  </a:schemeClr>
                </a:solidFill>
                <a:latin typeface="Calibri" panose="020F0502020204030204" pitchFamily="34" charset="0"/>
                <a:cs typeface="Arial" panose="020B0604020202020204" pitchFamily="34" charset="0"/>
              </a:rPr>
              <a:t>USE CASE: </a:t>
            </a:r>
          </a:p>
          <a:p>
            <a:pPr marL="573088" indent="0">
              <a:buNone/>
            </a:pPr>
            <a:r>
              <a:rPr lang="en-US" sz="1600" kern="0" dirty="0" smtClean="0">
                <a:solidFill>
                  <a:schemeClr val="tx1">
                    <a:lumMod val="75000"/>
                    <a:lumOff val="25000"/>
                  </a:schemeClr>
                </a:solidFill>
                <a:latin typeface="Calibri" panose="020F0502020204030204" pitchFamily="34" charset="0"/>
                <a:cs typeface="Arial" panose="020B0604020202020204" pitchFamily="34" charset="0"/>
              </a:rPr>
              <a:t>Track the user actions and provide personalized recommendations based on the user </a:t>
            </a:r>
            <a:r>
              <a:rPr lang="en-US" sz="1600" kern="0" dirty="0" err="1" smtClean="0">
                <a:solidFill>
                  <a:schemeClr val="tx1">
                    <a:lumMod val="75000"/>
                    <a:lumOff val="25000"/>
                  </a:schemeClr>
                </a:solidFill>
                <a:latin typeface="Calibri" panose="020F0502020204030204" pitchFamily="34" charset="0"/>
                <a:cs typeface="Arial" panose="020B0604020202020204" pitchFamily="34" charset="0"/>
              </a:rPr>
              <a:t>dat</a:t>
            </a:r>
            <a:r>
              <a:rPr lang="en-US" sz="1600" kern="0" dirty="0" smtClean="0">
                <a:solidFill>
                  <a:schemeClr val="tx1">
                    <a:lumMod val="75000"/>
                    <a:lumOff val="25000"/>
                  </a:schemeClr>
                </a:solidFill>
                <a:latin typeface="Calibri" panose="020F0502020204030204" pitchFamily="34" charset="0"/>
                <a:cs typeface="Arial" panose="020B0604020202020204" pitchFamily="34" charset="0"/>
              </a:rPr>
              <a:t> a</a:t>
            </a:r>
            <a:endParaRPr lang="en-US" sz="1600" kern="0" dirty="0">
              <a:solidFill>
                <a:schemeClr val="tx1">
                  <a:lumMod val="75000"/>
                  <a:lumOff val="25000"/>
                </a:schemeClr>
              </a:solidFill>
              <a:latin typeface="Calibri" panose="020F0502020204030204" pitchFamily="34" charset="0"/>
              <a:cs typeface="Arial" panose="020B0604020202020204" pitchFamily="34" charset="0"/>
            </a:endParaRPr>
          </a:p>
          <a:p>
            <a:pPr marL="274320" indent="-274320"/>
            <a:endParaRPr lang="en-US" sz="1600" b="1" kern="0" dirty="0" smtClean="0">
              <a:solidFill>
                <a:schemeClr val="tx1">
                  <a:lumMod val="75000"/>
                  <a:lumOff val="25000"/>
                </a:schemeClr>
              </a:solidFill>
              <a:latin typeface="Calibri" panose="020F0502020204030204" pitchFamily="34" charset="0"/>
              <a:cs typeface="Arial" panose="020B0604020202020204" pitchFamily="34" charset="0"/>
            </a:endParaRPr>
          </a:p>
          <a:p>
            <a:pPr marL="274320" indent="-274320"/>
            <a:r>
              <a:rPr lang="en-US" sz="1600" b="1" kern="0" dirty="0" smtClean="0">
                <a:solidFill>
                  <a:schemeClr val="accent1">
                    <a:lumMod val="75000"/>
                  </a:schemeClr>
                </a:solidFill>
                <a:latin typeface="Calibri" panose="020F0502020204030204" pitchFamily="34" charset="0"/>
                <a:cs typeface="Arial" panose="020B0604020202020204" pitchFamily="34" charset="0"/>
              </a:rPr>
              <a:t>TEAM NAME: </a:t>
            </a:r>
            <a:r>
              <a:rPr lang="en-US" sz="1600" kern="0" dirty="0" err="1" smtClean="0">
                <a:solidFill>
                  <a:schemeClr val="tx1">
                    <a:lumMod val="75000"/>
                    <a:lumOff val="25000"/>
                  </a:schemeClr>
                </a:solidFill>
                <a:latin typeface="Calibri" panose="020F0502020204030204" pitchFamily="34" charset="0"/>
                <a:cs typeface="Arial" panose="020B0604020202020204" pitchFamily="34" charset="0"/>
              </a:rPr>
              <a:t>Gathaks</a:t>
            </a:r>
            <a:endParaRPr lang="en-US" sz="1600" kern="0" dirty="0" smtClean="0">
              <a:solidFill>
                <a:schemeClr val="tx1">
                  <a:lumMod val="75000"/>
                  <a:lumOff val="25000"/>
                </a:schemeClr>
              </a:solidFill>
              <a:latin typeface="Calibri" panose="020F0502020204030204" pitchFamily="34" charset="0"/>
              <a:cs typeface="Arial" panose="020B0604020202020204" pitchFamily="34" charset="0"/>
            </a:endParaRPr>
          </a:p>
          <a:p>
            <a:pPr marL="274320" indent="-274320"/>
            <a:endParaRPr lang="en-US" sz="1600" b="1" kern="0" dirty="0" smtClean="0">
              <a:solidFill>
                <a:schemeClr val="accent1">
                  <a:lumMod val="75000"/>
                </a:schemeClr>
              </a:solidFill>
              <a:latin typeface="Calibri" panose="020F0502020204030204" pitchFamily="34" charset="0"/>
              <a:cs typeface="Arial" panose="020B0604020202020204" pitchFamily="34" charset="0"/>
            </a:endParaRPr>
          </a:p>
          <a:p>
            <a:pPr marL="274320" indent="-274320"/>
            <a:r>
              <a:rPr lang="en-US" sz="1600" b="1" kern="0" dirty="0" smtClean="0">
                <a:solidFill>
                  <a:schemeClr val="accent1">
                    <a:lumMod val="75000"/>
                  </a:schemeClr>
                </a:solidFill>
                <a:latin typeface="Calibri" panose="020F0502020204030204" pitchFamily="34" charset="0"/>
                <a:cs typeface="Arial" panose="020B0604020202020204" pitchFamily="34" charset="0"/>
              </a:rPr>
              <a:t>TEAM MEMBERS</a:t>
            </a:r>
          </a:p>
          <a:p>
            <a:pPr marL="862133" lvl="1" indent="-274320"/>
            <a:r>
              <a:rPr lang="en-US" sz="1600" kern="0" dirty="0" smtClean="0">
                <a:solidFill>
                  <a:schemeClr val="tx1">
                    <a:lumMod val="75000"/>
                    <a:lumOff val="25000"/>
                  </a:schemeClr>
                </a:solidFill>
                <a:latin typeface="Calibri" panose="020F0502020204030204" pitchFamily="34" charset="0"/>
                <a:cs typeface="Arial" panose="020B0604020202020204" pitchFamily="34" charset="0"/>
              </a:rPr>
              <a:t>Anudeep Anumula</a:t>
            </a:r>
          </a:p>
          <a:p>
            <a:pPr marL="862133" lvl="1" indent="-274320"/>
            <a:r>
              <a:rPr lang="en-US" sz="1600" kern="0" dirty="0" smtClean="0">
                <a:solidFill>
                  <a:schemeClr val="tx1">
                    <a:lumMod val="75000"/>
                    <a:lumOff val="25000"/>
                  </a:schemeClr>
                </a:solidFill>
                <a:latin typeface="Calibri" panose="020F0502020204030204" pitchFamily="34" charset="0"/>
                <a:cs typeface="Arial" panose="020B0604020202020204" pitchFamily="34" charset="0"/>
              </a:rPr>
              <a:t>Krishnakanth </a:t>
            </a:r>
            <a:r>
              <a:rPr lang="en-US" sz="1600" kern="0" dirty="0" err="1" smtClean="0">
                <a:solidFill>
                  <a:schemeClr val="tx1">
                    <a:lumMod val="75000"/>
                    <a:lumOff val="25000"/>
                  </a:schemeClr>
                </a:solidFill>
                <a:latin typeface="Calibri" panose="020F0502020204030204" pitchFamily="34" charset="0"/>
                <a:cs typeface="Arial" panose="020B0604020202020204" pitchFamily="34" charset="0"/>
              </a:rPr>
              <a:t>Chakravarthy</a:t>
            </a:r>
            <a:endParaRPr lang="en-US" sz="1600" kern="0" dirty="0" smtClean="0">
              <a:solidFill>
                <a:schemeClr val="tx1">
                  <a:lumMod val="75000"/>
                  <a:lumOff val="25000"/>
                </a:schemeClr>
              </a:solidFill>
              <a:latin typeface="Calibri" panose="020F0502020204030204" pitchFamily="34" charset="0"/>
              <a:cs typeface="Arial" panose="020B0604020202020204" pitchFamily="34" charset="0"/>
            </a:endParaRPr>
          </a:p>
          <a:p>
            <a:pPr marL="862133" lvl="1" indent="-274320"/>
            <a:r>
              <a:rPr lang="en-US" sz="1600" kern="0" dirty="0" err="1" smtClean="0">
                <a:solidFill>
                  <a:schemeClr val="tx1">
                    <a:lumMod val="75000"/>
                    <a:lumOff val="25000"/>
                  </a:schemeClr>
                </a:solidFill>
                <a:latin typeface="Calibri" panose="020F0502020204030204" pitchFamily="34" charset="0"/>
                <a:cs typeface="Arial" panose="020B0604020202020204" pitchFamily="34" charset="0"/>
              </a:rPr>
              <a:t>Pavan</a:t>
            </a:r>
            <a:r>
              <a:rPr lang="en-US" sz="1600" kern="0" dirty="0" smtClean="0">
                <a:solidFill>
                  <a:schemeClr val="tx1">
                    <a:lumMod val="75000"/>
                    <a:lumOff val="25000"/>
                  </a:schemeClr>
                </a:solidFill>
                <a:latin typeface="Calibri" panose="020F0502020204030204" pitchFamily="34" charset="0"/>
                <a:cs typeface="Arial" panose="020B0604020202020204" pitchFamily="34" charset="0"/>
              </a:rPr>
              <a:t> </a:t>
            </a:r>
            <a:r>
              <a:rPr lang="en-US" sz="1600" kern="0" dirty="0" err="1" smtClean="0">
                <a:solidFill>
                  <a:schemeClr val="tx1">
                    <a:lumMod val="75000"/>
                    <a:lumOff val="25000"/>
                  </a:schemeClr>
                </a:solidFill>
                <a:latin typeface="Calibri" panose="020F0502020204030204" pitchFamily="34" charset="0"/>
                <a:cs typeface="Arial" panose="020B0604020202020204" pitchFamily="34" charset="0"/>
              </a:rPr>
              <a:t>kumar</a:t>
            </a:r>
            <a:endParaRPr lang="en-US" sz="1600" kern="0" dirty="0" smtClean="0">
              <a:solidFill>
                <a:schemeClr val="tx1">
                  <a:lumMod val="75000"/>
                  <a:lumOff val="25000"/>
                </a:schemeClr>
              </a:solidFill>
              <a:latin typeface="Calibri" panose="020F0502020204030204" pitchFamily="34" charset="0"/>
              <a:cs typeface="Arial" panose="020B0604020202020204" pitchFamily="34" charset="0"/>
            </a:endParaRPr>
          </a:p>
          <a:p>
            <a:pPr marL="862133" lvl="1" indent="-274320"/>
            <a:endParaRPr lang="en-US" sz="1600" kern="0" dirty="0" smtClean="0">
              <a:solidFill>
                <a:schemeClr val="tx1">
                  <a:lumMod val="75000"/>
                  <a:lumOff val="25000"/>
                </a:schemeClr>
              </a:solidFill>
              <a:latin typeface="Calibri" panose="020F050202020403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749378" y="2494340"/>
            <a:ext cx="5306340" cy="3073944"/>
          </a:xfrm>
          <a:prstGeom prst="rect">
            <a:avLst/>
          </a:prstGeom>
        </p:spPr>
      </p:pic>
    </p:spTree>
    <p:extLst>
      <p:ext uri="{BB962C8B-B14F-4D97-AF65-F5344CB8AC3E}">
        <p14:creationId xmlns="" xmlns:p14="http://schemas.microsoft.com/office/powerpoint/2010/main" val="1856055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kern="0" dirty="0" smtClean="0">
                <a:solidFill>
                  <a:schemeClr val="accent1">
                    <a:lumMod val="75000"/>
                  </a:schemeClr>
                </a:solidFill>
                <a:cs typeface="Arial" panose="020B0604020202020204" pitchFamily="34" charset="0"/>
              </a:rPr>
              <a:t>Tools &amp; technology</a:t>
            </a:r>
            <a:endParaRPr lang="en-IN" dirty="0"/>
          </a:p>
        </p:txBody>
      </p:sp>
      <p:sp>
        <p:nvSpPr>
          <p:cNvPr id="3" name="Rectangle 2"/>
          <p:cNvSpPr/>
          <p:nvPr/>
        </p:nvSpPr>
        <p:spPr>
          <a:xfrm>
            <a:off x="837767" y="2499751"/>
            <a:ext cx="4660250" cy="923330"/>
          </a:xfrm>
          <a:prstGeom prst="rect">
            <a:avLst/>
          </a:prstGeom>
        </p:spPr>
        <p:txBody>
          <a:bodyPr wrap="none">
            <a:spAutoFit/>
          </a:bodyPr>
          <a:lstStyle/>
          <a:p>
            <a:r>
              <a:rPr lang="en-US" b="1" kern="0" dirty="0" err="1" smtClean="0">
                <a:solidFill>
                  <a:schemeClr val="tx1">
                    <a:lumMod val="75000"/>
                    <a:lumOff val="25000"/>
                  </a:schemeClr>
                </a:solidFill>
                <a:cs typeface="Arial" panose="020B0604020202020204" pitchFamily="34" charset="0"/>
              </a:rPr>
              <a:t>Chatbot</a:t>
            </a:r>
            <a:r>
              <a:rPr lang="en-US" b="1" kern="0" dirty="0" smtClean="0">
                <a:solidFill>
                  <a:schemeClr val="tx1">
                    <a:lumMod val="75000"/>
                    <a:lumOff val="25000"/>
                  </a:schemeClr>
                </a:solidFill>
                <a:cs typeface="Arial" panose="020B0604020202020204" pitchFamily="34" charset="0"/>
              </a:rPr>
              <a:t> API:</a:t>
            </a:r>
            <a:r>
              <a:rPr lang="en-US" kern="0" dirty="0" smtClean="0">
                <a:solidFill>
                  <a:schemeClr val="tx1">
                    <a:lumMod val="75000"/>
                    <a:lumOff val="25000"/>
                  </a:schemeClr>
                </a:solidFill>
                <a:cs typeface="Arial" panose="020B0604020202020204" pitchFamily="34" charset="0"/>
              </a:rPr>
              <a:t> </a:t>
            </a:r>
            <a:r>
              <a:rPr lang="en-US" kern="0" dirty="0" err="1" smtClean="0">
                <a:solidFill>
                  <a:schemeClr val="tx1">
                    <a:lumMod val="75000"/>
                    <a:lumOff val="25000"/>
                  </a:schemeClr>
                </a:solidFill>
                <a:cs typeface="Arial" panose="020B0604020202020204" pitchFamily="34" charset="0"/>
              </a:rPr>
              <a:t>Dialogflow</a:t>
            </a:r>
            <a:r>
              <a:rPr lang="en-US" kern="0" dirty="0" smtClean="0">
                <a:solidFill>
                  <a:schemeClr val="tx1">
                    <a:lumMod val="75000"/>
                    <a:lumOff val="25000"/>
                  </a:schemeClr>
                </a:solidFill>
                <a:cs typeface="Arial" panose="020B0604020202020204" pitchFamily="34" charset="0"/>
              </a:rPr>
              <a:t> (Api.ai)</a:t>
            </a:r>
          </a:p>
          <a:p>
            <a:r>
              <a:rPr lang="en-US" b="1" kern="0" dirty="0" smtClean="0">
                <a:solidFill>
                  <a:schemeClr val="tx1">
                    <a:lumMod val="75000"/>
                    <a:lumOff val="25000"/>
                  </a:schemeClr>
                </a:solidFill>
                <a:cs typeface="Arial" panose="020B0604020202020204" pitchFamily="34" charset="0"/>
              </a:rPr>
              <a:t>Languages :</a:t>
            </a:r>
            <a:r>
              <a:rPr lang="en-US" kern="0" dirty="0" smtClean="0">
                <a:solidFill>
                  <a:schemeClr val="tx1">
                    <a:lumMod val="75000"/>
                    <a:lumOff val="25000"/>
                  </a:schemeClr>
                </a:solidFill>
                <a:cs typeface="Arial" panose="020B0604020202020204" pitchFamily="34" charset="0"/>
              </a:rPr>
              <a:t> Python, Angular Js(1x), HTML, </a:t>
            </a:r>
            <a:r>
              <a:rPr lang="en-US" kern="0" dirty="0" smtClean="0">
                <a:solidFill>
                  <a:schemeClr val="tx1">
                    <a:lumMod val="75000"/>
                    <a:lumOff val="25000"/>
                  </a:schemeClr>
                </a:solidFill>
                <a:cs typeface="Arial" panose="020B0604020202020204" pitchFamily="34" charset="0"/>
              </a:rPr>
              <a:t>CSS</a:t>
            </a:r>
          </a:p>
          <a:p>
            <a:r>
              <a:rPr lang="en-US" b="1" kern="0" dirty="0" smtClean="0">
                <a:solidFill>
                  <a:schemeClr val="tx1">
                    <a:lumMod val="75000"/>
                    <a:lumOff val="25000"/>
                  </a:schemeClr>
                </a:solidFill>
                <a:cs typeface="Arial" panose="020B0604020202020204" pitchFamily="34" charset="0"/>
              </a:rPr>
              <a:t>Machine learning :</a:t>
            </a:r>
            <a:r>
              <a:rPr lang="en-US" kern="0" dirty="0" smtClean="0">
                <a:solidFill>
                  <a:schemeClr val="tx1">
                    <a:lumMod val="75000"/>
                    <a:lumOff val="25000"/>
                  </a:schemeClr>
                </a:solidFill>
                <a:cs typeface="Arial" panose="020B0604020202020204" pitchFamily="34" charset="0"/>
              </a:rPr>
              <a:t> Azure ML studio</a:t>
            </a:r>
            <a:endParaRPr lang="en-IN" dirty="0"/>
          </a:p>
        </p:txBody>
      </p:sp>
      <p:pic>
        <p:nvPicPr>
          <p:cNvPr id="1026" name="Picture 2" descr="C:\Users\Deepu\Desktop\Techgig\Ecommerce-master\images.jpg"/>
          <p:cNvPicPr>
            <a:picLocks noChangeAspect="1" noChangeArrowheads="1"/>
          </p:cNvPicPr>
          <p:nvPr/>
        </p:nvPicPr>
        <p:blipFill>
          <a:blip r:embed="rId2"/>
          <a:srcRect/>
          <a:stretch>
            <a:fillRect/>
          </a:stretch>
        </p:blipFill>
        <p:spPr bwMode="auto">
          <a:xfrm>
            <a:off x="8116253" y="2790146"/>
            <a:ext cx="2543175" cy="1800225"/>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a:t>
            </a:r>
          </a:p>
        </p:txBody>
      </p:sp>
      <p:sp>
        <p:nvSpPr>
          <p:cNvPr id="4" name="Content Placeholder 4"/>
          <p:cNvSpPr txBox="1">
            <a:spLocks/>
          </p:cNvSpPr>
          <p:nvPr/>
        </p:nvSpPr>
        <p:spPr>
          <a:xfrm>
            <a:off x="3316407" y="1869648"/>
            <a:ext cx="8693624" cy="4640333"/>
          </a:xfrm>
          <a:prstGeom prst="rect">
            <a:avLst/>
          </a:prstGeom>
        </p:spPr>
        <p:txBody>
          <a:bodyPr>
            <a:noAutofit/>
          </a:bodyPr>
          <a:lstStyle>
            <a:lvl1pPr marL="457189" marR="0" indent="-457189"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1pPr>
            <a:lvl2pPr marL="1045002" marR="0" indent="-435417"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2pPr>
            <a:lvl3pPr marL="1625559" marR="0" indent="-406390"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3pPr>
            <a:lvl4pPr marL="2316422"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4pPr>
            <a:lvl5pPr marL="2926007"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5pPr>
            <a:lvl6pPr marL="3535592"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6pPr>
            <a:lvl7pPr marL="4145176"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7pPr>
            <a:lvl8pPr marL="4754760" marR="0" indent="-487666"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8pPr>
            <a:lvl9pPr marL="5364345" marR="0" indent="-487666"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9pPr>
          </a:lstStyle>
          <a:p>
            <a:pPr marL="0" indent="0">
              <a:buNone/>
            </a:pPr>
            <a:r>
              <a:rPr lang="en-US" sz="1600" b="1" kern="0" dirty="0" smtClean="0">
                <a:solidFill>
                  <a:schemeClr val="accent1">
                    <a:lumMod val="75000"/>
                  </a:schemeClr>
                </a:solidFill>
                <a:latin typeface="Calibri" panose="020F0502020204030204" pitchFamily="34" charset="0"/>
                <a:cs typeface="Arial" panose="020B0604020202020204" pitchFamily="34" charset="0"/>
              </a:rPr>
              <a:t>CONTEXT</a:t>
            </a:r>
          </a:p>
          <a:p>
            <a:pPr marL="0" indent="0">
              <a:lnSpc>
                <a:spcPct val="120000"/>
              </a:lnSpc>
              <a:buNone/>
            </a:pPr>
            <a:r>
              <a:rPr lang="en-US" sz="1600" kern="0" dirty="0" smtClean="0">
                <a:solidFill>
                  <a:schemeClr val="tx1">
                    <a:lumMod val="75000"/>
                    <a:lumOff val="25000"/>
                  </a:schemeClr>
                </a:solidFill>
                <a:latin typeface="Calibri" panose="020F0502020204030204" pitchFamily="34" charset="0"/>
                <a:cs typeface="Arial" panose="020B0604020202020204" pitchFamily="34" charset="0"/>
              </a:rPr>
              <a:t>	</a:t>
            </a:r>
            <a:r>
              <a:rPr lang="en-US" sz="1600" kern="0" dirty="0" smtClean="0">
                <a:solidFill>
                  <a:schemeClr val="tx1">
                    <a:lumMod val="75000"/>
                    <a:lumOff val="25000"/>
                  </a:schemeClr>
                </a:solidFill>
                <a:latin typeface="Calibri" panose="020F0502020204030204" pitchFamily="34" charset="0"/>
                <a:cs typeface="Arial" panose="020B0604020202020204" pitchFamily="34" charset="0"/>
              </a:rPr>
              <a:t>Shoppers stop is looking to enhance customer experience during website navigation by driving context based personalization. Context, here, essentially means understanding the affinities of the customer based on prior visits to the website and indicative actions taken during those visits. Affinity contexts could be any of the following (or more) parameter : preferred brand, in-market category, preferred brand within in-market category, price ranges, category specific attribute preferences (</a:t>
            </a:r>
            <a:r>
              <a:rPr lang="en-US" sz="1600" kern="0" dirty="0" err="1" smtClean="0">
                <a:solidFill>
                  <a:schemeClr val="tx1">
                    <a:lumMod val="75000"/>
                    <a:lumOff val="25000"/>
                  </a:schemeClr>
                </a:solidFill>
                <a:latin typeface="Calibri" panose="020F0502020204030204" pitchFamily="34" charset="0"/>
                <a:cs typeface="Arial" panose="020B0604020202020204" pitchFamily="34" charset="0"/>
              </a:rPr>
              <a:t>eg</a:t>
            </a:r>
            <a:r>
              <a:rPr lang="en-US" sz="1600" kern="0" dirty="0" smtClean="0">
                <a:solidFill>
                  <a:schemeClr val="tx1">
                    <a:lumMod val="75000"/>
                    <a:lumOff val="25000"/>
                  </a:schemeClr>
                </a:solidFill>
                <a:latin typeface="Calibri" panose="020F0502020204030204" pitchFamily="34" charset="0"/>
                <a:cs typeface="Arial" panose="020B0604020202020204" pitchFamily="34" charset="0"/>
              </a:rPr>
              <a:t> : short-sleeves within shirts), sizes and so on</a:t>
            </a:r>
            <a:endParaRPr lang="en-US" sz="1600" b="1" kern="0" dirty="0" smtClean="0">
              <a:solidFill>
                <a:schemeClr val="tx1">
                  <a:lumMod val="75000"/>
                  <a:lumOff val="25000"/>
                </a:schemeClr>
              </a:solidFill>
              <a:latin typeface="Calibri" panose="020F0502020204030204" pitchFamily="34" charset="0"/>
              <a:cs typeface="Arial" panose="020B0604020202020204" pitchFamily="34" charset="0"/>
            </a:endParaRPr>
          </a:p>
          <a:p>
            <a:pPr marL="0" indent="0">
              <a:buNone/>
            </a:pPr>
            <a:endParaRPr lang="en-US" sz="1600" b="1" kern="0" dirty="0" smtClean="0">
              <a:solidFill>
                <a:schemeClr val="accent1">
                  <a:lumMod val="75000"/>
                </a:schemeClr>
              </a:solidFill>
              <a:latin typeface="Calibri" panose="020F0502020204030204" pitchFamily="34" charset="0"/>
              <a:cs typeface="Arial" panose="020B0604020202020204" pitchFamily="34" charset="0"/>
            </a:endParaRPr>
          </a:p>
          <a:p>
            <a:pPr marL="0" indent="0">
              <a:buNone/>
            </a:pPr>
            <a:r>
              <a:rPr lang="en-US" sz="1600" b="1" kern="0" dirty="0" smtClean="0">
                <a:solidFill>
                  <a:schemeClr val="accent1">
                    <a:lumMod val="75000"/>
                  </a:schemeClr>
                </a:solidFill>
                <a:latin typeface="Calibri" panose="020F0502020204030204" pitchFamily="34" charset="0"/>
                <a:cs typeface="Arial" panose="020B0604020202020204" pitchFamily="34" charset="0"/>
              </a:rPr>
              <a:t>BUSINESS </a:t>
            </a:r>
            <a:r>
              <a:rPr lang="en-US" sz="1600" b="1" kern="0" dirty="0">
                <a:solidFill>
                  <a:schemeClr val="accent1">
                    <a:lumMod val="75000"/>
                  </a:schemeClr>
                </a:solidFill>
                <a:latin typeface="Calibri" panose="020F0502020204030204" pitchFamily="34" charset="0"/>
                <a:cs typeface="Arial" panose="020B0604020202020204" pitchFamily="34" charset="0"/>
              </a:rPr>
              <a:t>RELEVANCE</a:t>
            </a:r>
            <a:r>
              <a:rPr lang="en-US" sz="1600" b="1" kern="0" dirty="0" smtClean="0">
                <a:solidFill>
                  <a:schemeClr val="accent1">
                    <a:lumMod val="75000"/>
                  </a:schemeClr>
                </a:solidFill>
                <a:latin typeface="Calibri" panose="020F0502020204030204" pitchFamily="34" charset="0"/>
                <a:cs typeface="Arial" panose="020B0604020202020204" pitchFamily="34" charset="0"/>
              </a:rPr>
              <a:t> </a:t>
            </a:r>
          </a:p>
          <a:p>
            <a:pPr marL="0" indent="0">
              <a:buNone/>
            </a:pPr>
            <a:r>
              <a:rPr lang="en-US" sz="1600" kern="0" dirty="0" smtClean="0">
                <a:solidFill>
                  <a:schemeClr val="tx1">
                    <a:lumMod val="75000"/>
                    <a:lumOff val="25000"/>
                  </a:schemeClr>
                </a:solidFill>
                <a:latin typeface="Calibri" panose="020F0502020204030204" pitchFamily="34" charset="0"/>
                <a:cs typeface="Arial" panose="020B0604020202020204" pitchFamily="34" charset="0"/>
              </a:rPr>
              <a:t>Business can use the visitor affinities stored in earlier visits and  use them to refine the content shown to the visitors in current visit.</a:t>
            </a:r>
            <a:endParaRPr lang="en-US" sz="1600" kern="0" dirty="0">
              <a:solidFill>
                <a:schemeClr val="tx1">
                  <a:lumMod val="75000"/>
                  <a:lumOff val="25000"/>
                </a:schemeClr>
              </a:solidFill>
              <a:latin typeface="Calibri" panose="020F0502020204030204" pitchFamily="34" charset="0"/>
              <a:cs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45377" y="3487630"/>
            <a:ext cx="1781175" cy="1457325"/>
          </a:xfrm>
          <a:prstGeom prst="rect">
            <a:avLst/>
          </a:prstGeom>
        </p:spPr>
      </p:pic>
    </p:spTree>
    <p:extLst>
      <p:ext uri="{BB962C8B-B14F-4D97-AF65-F5344CB8AC3E}">
        <p14:creationId xmlns="" xmlns:p14="http://schemas.microsoft.com/office/powerpoint/2010/main" val="1965094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Summary</a:t>
            </a:r>
          </a:p>
        </p:txBody>
      </p:sp>
      <p:sp>
        <p:nvSpPr>
          <p:cNvPr id="3" name="Rectangle 2"/>
          <p:cNvSpPr/>
          <p:nvPr/>
        </p:nvSpPr>
        <p:spPr>
          <a:xfrm>
            <a:off x="366995" y="1982438"/>
            <a:ext cx="11282149" cy="1885131"/>
          </a:xfrm>
          <a:prstGeom prst="rect">
            <a:avLst/>
          </a:prstGeom>
        </p:spPr>
        <p:txBody>
          <a:bodyPr wrap="square">
            <a:spAutoFit/>
          </a:bodyPr>
          <a:lstStyle/>
          <a:p>
            <a:pPr>
              <a:lnSpc>
                <a:spcPct val="110000"/>
              </a:lnSpc>
              <a:spcBef>
                <a:spcPts val="300"/>
              </a:spcBef>
              <a:spcAft>
                <a:spcPts val="300"/>
              </a:spcAft>
            </a:pPr>
            <a:r>
              <a:rPr lang="en-US" sz="1600" dirty="0"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This solution is build using </a:t>
            </a:r>
            <a:r>
              <a:rPr lang="en-US" sz="1600" b="1" dirty="0" err="1"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Dialogflow</a:t>
            </a:r>
            <a:r>
              <a:rPr lang="en-US" sz="1600" dirty="0"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 (api.ai), provided by google. In our solution we have used it for the intent classification and entity extraction. Dialog flow can be trained to do this by providing multiple examples. The extracted entities are nothing but the intended constituents which are formed from user </a:t>
            </a:r>
            <a:r>
              <a:rPr lang="en-US" sz="1600" dirty="0"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actions.</a:t>
            </a:r>
          </a:p>
          <a:p>
            <a:pPr>
              <a:lnSpc>
                <a:spcPct val="110000"/>
              </a:lnSpc>
              <a:spcBef>
                <a:spcPts val="300"/>
              </a:spcBef>
              <a:spcAft>
                <a:spcPts val="300"/>
              </a:spcAft>
            </a:pPr>
            <a:r>
              <a:rPr lang="en-US" sz="1600" dirty="0"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These attributes are then stored in the DB and recommendations are made using </a:t>
            </a:r>
            <a:r>
              <a:rPr lang="en-US" sz="1600" b="1" dirty="0"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train matchbox</a:t>
            </a:r>
            <a:r>
              <a:rPr lang="en-US" sz="1600" dirty="0"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 module of Azure ML studio</a:t>
            </a:r>
            <a:endParaRPr lang="en-US" sz="1600" dirty="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endParaRPr>
          </a:p>
          <a:p>
            <a:pPr>
              <a:lnSpc>
                <a:spcPct val="110000"/>
              </a:lnSpc>
              <a:spcBef>
                <a:spcPts val="300"/>
              </a:spcBef>
              <a:spcAft>
                <a:spcPts val="300"/>
              </a:spcAft>
            </a:pPr>
            <a:r>
              <a:rPr lang="en-US" sz="1600" dirty="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 </a:t>
            </a:r>
          </a:p>
          <a:p>
            <a:endParaRPr lang="en-US" sz="1600" dirty="0">
              <a:solidFill>
                <a:schemeClr val="tx1">
                  <a:lumMod val="75000"/>
                  <a:lumOff val="25000"/>
                </a:schemeClr>
              </a:solidFill>
              <a:latin typeface="Calibri" panose="020F0502020204030204" pitchFamily="34" charset="0"/>
            </a:endParaRPr>
          </a:p>
        </p:txBody>
      </p:sp>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9470894" y="3718517"/>
            <a:ext cx="2178250" cy="2011680"/>
          </a:xfrm>
          <a:prstGeom prst="rect">
            <a:avLst/>
          </a:prstGeom>
        </p:spPr>
      </p:pic>
    </p:spTree>
    <p:extLst>
      <p:ext uri="{BB962C8B-B14F-4D97-AF65-F5344CB8AC3E}">
        <p14:creationId xmlns="" xmlns:p14="http://schemas.microsoft.com/office/powerpoint/2010/main" val="2988639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 level solution</a:t>
            </a:r>
            <a:endParaRPr lang="en-US" dirty="0"/>
          </a:p>
        </p:txBody>
      </p:sp>
      <p:grpSp>
        <p:nvGrpSpPr>
          <p:cNvPr id="30" name="Group 29"/>
          <p:cNvGrpSpPr/>
          <p:nvPr/>
        </p:nvGrpSpPr>
        <p:grpSpPr>
          <a:xfrm>
            <a:off x="3274855" y="2110615"/>
            <a:ext cx="5400353" cy="3444838"/>
            <a:chOff x="3274855" y="2110615"/>
            <a:chExt cx="5400353" cy="3444838"/>
          </a:xfrm>
        </p:grpSpPr>
        <p:sp>
          <p:nvSpPr>
            <p:cNvPr id="66" name="TextBox 65"/>
            <p:cNvSpPr txBox="1"/>
            <p:nvPr/>
          </p:nvSpPr>
          <p:spPr>
            <a:xfrm>
              <a:off x="5058510" y="3785932"/>
              <a:ext cx="1760557"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sz="1100" b="1" dirty="0">
                  <a:solidFill>
                    <a:srgbClr val="000000"/>
                  </a:solidFill>
                  <a:latin typeface="Arial" panose="020B0604020202020204" pitchFamily="34" charset="0"/>
                  <a:cs typeface="Arial" panose="020B0604020202020204" pitchFamily="34" charset="0"/>
                  <a:sym typeface="Calibri"/>
                </a:rPr>
                <a:t>Search box</a:t>
              </a:r>
              <a:endParaRPr lang="en-US" sz="1100" dirty="0">
                <a:solidFill>
                  <a:srgbClr val="000000"/>
                </a:solidFill>
                <a:latin typeface="Arial" panose="020B0604020202020204" pitchFamily="34" charset="0"/>
                <a:cs typeface="Arial" panose="020B0604020202020204" pitchFamily="34" charset="0"/>
                <a:sym typeface="Calibri"/>
              </a:endParaRPr>
            </a:p>
          </p:txBody>
        </p:sp>
        <p:sp>
          <p:nvSpPr>
            <p:cNvPr id="67" name="Rounded Rectangle 66"/>
            <p:cNvSpPr/>
            <p:nvPr/>
          </p:nvSpPr>
          <p:spPr>
            <a:xfrm>
              <a:off x="5058508" y="3699580"/>
              <a:ext cx="1760565" cy="398589"/>
            </a:xfrm>
            <a:prstGeom prst="roundRect">
              <a:avLst/>
            </a:prstGeom>
            <a:noFill/>
            <a:ln>
              <a:solidFill>
                <a:schemeClr val="accent6"/>
              </a:solidFill>
            </a:ln>
            <a:effectLst/>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68" name="Oval 67"/>
            <p:cNvSpPr/>
            <p:nvPr/>
          </p:nvSpPr>
          <p:spPr>
            <a:xfrm>
              <a:off x="5531107" y="2430787"/>
              <a:ext cx="822960" cy="822960"/>
            </a:xfrm>
            <a:prstGeom prst="ellipse">
              <a:avLst/>
            </a:prstGeom>
            <a:solidFill>
              <a:schemeClr val="bg1"/>
            </a:solidFill>
            <a:ln w="28575">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cxnSp>
          <p:nvCxnSpPr>
            <p:cNvPr id="69" name="Straight Arrow Connector 68"/>
            <p:cNvCxnSpPr>
              <a:stCxn id="68" idx="4"/>
              <a:endCxn id="67" idx="0"/>
            </p:cNvCxnSpPr>
            <p:nvPr/>
          </p:nvCxnSpPr>
          <p:spPr>
            <a:xfrm flipH="1">
              <a:off x="5938791" y="3253747"/>
              <a:ext cx="3796" cy="445833"/>
            </a:xfrm>
            <a:prstGeom prst="straightConnector1">
              <a:avLst/>
            </a:prstGeom>
            <a:noFill/>
            <a:ln w="19050" cap="flat">
              <a:solidFill>
                <a:schemeClr val="accent6"/>
              </a:solidFill>
              <a:prstDash val="solid"/>
              <a:round/>
              <a:headEnd type="triangle"/>
              <a:tailEnd type="triangle"/>
            </a:ln>
            <a:effectLst/>
            <a:sp3d/>
          </p:spPr>
          <p:style>
            <a:lnRef idx="0">
              <a:scrgbClr r="0" g="0" b="0"/>
            </a:lnRef>
            <a:fillRef idx="0">
              <a:scrgbClr r="0" g="0" b="0"/>
            </a:fillRef>
            <a:effectRef idx="0">
              <a:scrgbClr r="0" g="0" b="0"/>
            </a:effectRef>
            <a:fontRef idx="none"/>
          </p:style>
        </p:cxnSp>
        <p:sp>
          <p:nvSpPr>
            <p:cNvPr id="70" name="TextBox 69"/>
            <p:cNvSpPr txBox="1"/>
            <p:nvPr/>
          </p:nvSpPr>
          <p:spPr>
            <a:xfrm>
              <a:off x="5218708" y="4764248"/>
              <a:ext cx="1605929" cy="6924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smtClean="0">
                  <a:ln>
                    <a:noFill/>
                  </a:ln>
                  <a:solidFill>
                    <a:srgbClr val="000000"/>
                  </a:solidFill>
                  <a:effectLst/>
                  <a:uFillTx/>
                  <a:latin typeface="Arial" panose="020B0604020202020204" pitchFamily="34" charset="0"/>
                  <a:cs typeface="Arial" panose="020B0604020202020204" pitchFamily="34" charset="0"/>
                  <a:sym typeface="Calibri"/>
                </a:rPr>
                <a:t>NLU Module</a:t>
              </a:r>
            </a:p>
            <a:p>
              <a:pPr marL="0" marR="0" indent="0" algn="ctr" defTabSz="457200" rtl="0" fontAlgn="auto" latinLnBrk="0" hangingPunct="0">
                <a:lnSpc>
                  <a:spcPct val="100000"/>
                </a:lnSpc>
                <a:spcBef>
                  <a:spcPts val="0"/>
                </a:spcBef>
                <a:spcAft>
                  <a:spcPts val="0"/>
                </a:spcAft>
                <a:buClrTx/>
                <a:buSzTx/>
                <a:buFontTx/>
                <a:buNone/>
                <a:tabLst/>
              </a:pPr>
              <a:endParaRPr lang="en-US" sz="300" dirty="0">
                <a:solidFill>
                  <a:srgbClr val="000000"/>
                </a:solidFill>
                <a:latin typeface="Arial" panose="020B0604020202020204" pitchFamily="34" charset="0"/>
                <a:cs typeface="Arial" panose="020B0604020202020204" pitchFamily="34" charset="0"/>
                <a:sym typeface="Calibri"/>
              </a:endParaRPr>
            </a:p>
            <a:p>
              <a:pPr marL="109538" marR="0" indent="-109538" defTabSz="457200" rtl="0" fontAlgn="auto" latinLnBrk="0" hangingPunct="0">
                <a:lnSpc>
                  <a:spcPct val="100000"/>
                </a:lnSpc>
                <a:spcBef>
                  <a:spcPts val="0"/>
                </a:spcBef>
                <a:spcAft>
                  <a:spcPts val="0"/>
                </a:spcAft>
                <a:buClrTx/>
                <a:buSzTx/>
                <a:buFontTx/>
                <a:buNone/>
                <a:tabLst/>
              </a:pPr>
              <a:r>
                <a:rPr kumimoji="0" lang="en-US" sz="1200" i="0" u="none" strike="noStrike" cap="none" spc="0" normalizeH="0" baseline="0" dirty="0" smtClean="0">
                  <a:ln>
                    <a:noFill/>
                  </a:ln>
                  <a:solidFill>
                    <a:srgbClr val="000000"/>
                  </a:solidFill>
                  <a:effectLst/>
                  <a:uFillTx/>
                  <a:latin typeface="Arial" panose="020B0604020202020204" pitchFamily="34" charset="0"/>
                  <a:cs typeface="Arial" panose="020B0604020202020204" pitchFamily="34" charset="0"/>
                  <a:sym typeface="Calibri"/>
                </a:rPr>
                <a:t>- Intent</a:t>
              </a:r>
              <a:r>
                <a:rPr kumimoji="0" lang="en-US" sz="1200" i="0" u="none" strike="noStrike" cap="none" spc="0" normalizeH="0" dirty="0" smtClean="0">
                  <a:ln>
                    <a:noFill/>
                  </a:ln>
                  <a:solidFill>
                    <a:srgbClr val="000000"/>
                  </a:solidFill>
                  <a:effectLst/>
                  <a:uFillTx/>
                  <a:latin typeface="Arial" panose="020B0604020202020204" pitchFamily="34" charset="0"/>
                  <a:cs typeface="Arial" panose="020B0604020202020204" pitchFamily="34" charset="0"/>
                  <a:sym typeface="Calibri"/>
                </a:rPr>
                <a:t> </a:t>
              </a:r>
              <a:r>
                <a:rPr kumimoji="0" lang="en-US" sz="1200" i="0" u="none" strike="noStrike" cap="none" spc="0" normalizeH="0" baseline="0" dirty="0" smtClean="0">
                  <a:ln>
                    <a:noFill/>
                  </a:ln>
                  <a:solidFill>
                    <a:srgbClr val="000000"/>
                  </a:solidFill>
                  <a:effectLst/>
                  <a:uFillTx/>
                  <a:latin typeface="Arial" panose="020B0604020202020204" pitchFamily="34" charset="0"/>
                  <a:cs typeface="Arial" panose="020B0604020202020204" pitchFamily="34" charset="0"/>
                  <a:sym typeface="Calibri"/>
                </a:rPr>
                <a:t>Classification</a:t>
              </a:r>
            </a:p>
            <a:p>
              <a:pPr marL="0" marR="0" indent="0" defTabSz="457200" rtl="0" fontAlgn="auto" latinLnBrk="0" hangingPunct="0">
                <a:lnSpc>
                  <a:spcPct val="100000"/>
                </a:lnSpc>
                <a:spcBef>
                  <a:spcPts val="0"/>
                </a:spcBef>
                <a:spcAft>
                  <a:spcPts val="0"/>
                </a:spcAft>
                <a:buClrTx/>
                <a:buSzTx/>
                <a:buFontTx/>
                <a:buNone/>
                <a:tabLst/>
              </a:pPr>
              <a:r>
                <a:rPr kumimoji="0" lang="en-US" sz="1200" i="0" u="none" strike="noStrike" cap="none" spc="0" normalizeH="0" baseline="0" dirty="0" smtClean="0">
                  <a:ln>
                    <a:noFill/>
                  </a:ln>
                  <a:solidFill>
                    <a:srgbClr val="000000"/>
                  </a:solidFill>
                  <a:effectLst/>
                  <a:uFillTx/>
                  <a:latin typeface="Arial" panose="020B0604020202020204" pitchFamily="34" charset="0"/>
                  <a:cs typeface="Arial" panose="020B0604020202020204" pitchFamily="34" charset="0"/>
                  <a:sym typeface="Calibri"/>
                </a:rPr>
                <a:t>- Entity</a:t>
              </a:r>
              <a:r>
                <a:rPr kumimoji="0" lang="en-US" sz="1200" i="0" u="none" strike="noStrike" cap="none" spc="0" normalizeH="0" dirty="0" smtClean="0">
                  <a:ln>
                    <a:noFill/>
                  </a:ln>
                  <a:solidFill>
                    <a:srgbClr val="000000"/>
                  </a:solidFill>
                  <a:effectLst/>
                  <a:uFillTx/>
                  <a:latin typeface="Arial" panose="020B0604020202020204" pitchFamily="34" charset="0"/>
                  <a:cs typeface="Arial" panose="020B0604020202020204" pitchFamily="34" charset="0"/>
                  <a:sym typeface="Calibri"/>
                </a:rPr>
                <a:t> Extraction</a:t>
              </a:r>
              <a:endParaRPr kumimoji="0" lang="en-US" sz="120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Calibri"/>
              </a:endParaRPr>
            </a:p>
          </p:txBody>
        </p:sp>
        <p:sp>
          <p:nvSpPr>
            <p:cNvPr id="71" name="Rounded Rectangle 70"/>
            <p:cNvSpPr/>
            <p:nvPr/>
          </p:nvSpPr>
          <p:spPr>
            <a:xfrm>
              <a:off x="5124462" y="4619281"/>
              <a:ext cx="1646869" cy="914400"/>
            </a:xfrm>
            <a:prstGeom prst="roundRect">
              <a:avLst>
                <a:gd name="adj" fmla="val 4675"/>
              </a:avLst>
            </a:prstGeom>
            <a:noFill/>
            <a:ln w="28575">
              <a:solidFill>
                <a:srgbClr val="00B0F0"/>
              </a:solidFill>
            </a:ln>
            <a:effectLst/>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pic>
          <p:nvPicPr>
            <p:cNvPr id="72" name="Picture 71"/>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5797076" y="2737079"/>
              <a:ext cx="262568" cy="262568"/>
            </a:xfrm>
            <a:prstGeom prst="rect">
              <a:avLst/>
            </a:prstGeom>
          </p:spPr>
        </p:pic>
        <p:sp>
          <p:nvSpPr>
            <p:cNvPr id="73" name="TextBox 72"/>
            <p:cNvSpPr txBox="1"/>
            <p:nvPr/>
          </p:nvSpPr>
          <p:spPr>
            <a:xfrm>
              <a:off x="3335692" y="4971998"/>
              <a:ext cx="1530548"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lnSpc>
                  <a:spcPct val="100000"/>
                </a:lnSpc>
                <a:spcBef>
                  <a:spcPts val="0"/>
                </a:spcBef>
                <a:spcAft>
                  <a:spcPts val="0"/>
                </a:spcAft>
                <a:buClrTx/>
                <a:buSzTx/>
                <a:buFontTx/>
                <a:buNone/>
                <a:tabLst/>
              </a:pPr>
              <a:r>
                <a:rPr lang="en-US" sz="1200" b="1" dirty="0" err="1" smtClean="0">
                  <a:solidFill>
                    <a:srgbClr val="000000"/>
                  </a:solidFill>
                  <a:latin typeface="Arial" panose="020B0604020202020204" pitchFamily="34" charset="0"/>
                  <a:cs typeface="Arial" panose="020B0604020202020204" pitchFamily="34" charset="0"/>
                  <a:sym typeface="Calibri"/>
                </a:rPr>
                <a:t>DialogFlow</a:t>
              </a:r>
              <a:endParaRPr kumimoji="0" lang="en-US" sz="700" b="1"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Calibri"/>
              </a:endParaRPr>
            </a:p>
          </p:txBody>
        </p:sp>
        <p:sp>
          <p:nvSpPr>
            <p:cNvPr id="74" name="Rounded Rectangle 73"/>
            <p:cNvSpPr/>
            <p:nvPr/>
          </p:nvSpPr>
          <p:spPr>
            <a:xfrm>
              <a:off x="3274855" y="4927617"/>
              <a:ext cx="1652221" cy="365760"/>
            </a:xfrm>
            <a:prstGeom prst="roundRect">
              <a:avLst>
                <a:gd name="adj" fmla="val 9204"/>
              </a:avLst>
            </a:prstGeom>
            <a:noFill/>
            <a:ln w="28575">
              <a:solidFill>
                <a:schemeClr val="tx1"/>
              </a:solidFill>
            </a:ln>
            <a:effectLst/>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cxnSp>
          <p:nvCxnSpPr>
            <p:cNvPr id="75" name="Straight Arrow Connector 74"/>
            <p:cNvCxnSpPr>
              <a:endCxn id="74" idx="3"/>
            </p:cNvCxnSpPr>
            <p:nvPr/>
          </p:nvCxnSpPr>
          <p:spPr>
            <a:xfrm flipH="1" flipV="1">
              <a:off x="4927076" y="5110497"/>
              <a:ext cx="193075" cy="2771"/>
            </a:xfrm>
            <a:prstGeom prst="straightConnector1">
              <a:avLst/>
            </a:prstGeom>
            <a:noFill/>
            <a:ln w="19050" cap="flat">
              <a:solidFill>
                <a:schemeClr val="tx1"/>
              </a:solidFill>
              <a:prstDash val="solid"/>
              <a:round/>
              <a:headEnd type="triangle"/>
              <a:tailEnd type="triangle"/>
            </a:ln>
            <a:effectLst/>
            <a:sp3d/>
          </p:spPr>
          <p:style>
            <a:lnRef idx="0">
              <a:scrgbClr r="0" g="0" b="0"/>
            </a:lnRef>
            <a:fillRef idx="0">
              <a:scrgbClr r="0" g="0" b="0"/>
            </a:fillRef>
            <a:effectRef idx="0">
              <a:scrgbClr r="0" g="0" b="0"/>
            </a:effectRef>
            <a:fontRef idx="none"/>
          </p:style>
        </p:cxnSp>
        <p:cxnSp>
          <p:nvCxnSpPr>
            <p:cNvPr id="76" name="Straight Arrow Connector 75"/>
            <p:cNvCxnSpPr>
              <a:stCxn id="67" idx="2"/>
              <a:endCxn id="71" idx="0"/>
            </p:cNvCxnSpPr>
            <p:nvPr/>
          </p:nvCxnSpPr>
          <p:spPr>
            <a:xfrm>
              <a:off x="5938791" y="4098169"/>
              <a:ext cx="9106" cy="52111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5046904" y="2110615"/>
              <a:ext cx="1760557"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sz="1100" b="1" dirty="0" smtClean="0">
                  <a:solidFill>
                    <a:srgbClr val="000000"/>
                  </a:solidFill>
                  <a:latin typeface="Arial" panose="020B0604020202020204" pitchFamily="34" charset="0"/>
                  <a:cs typeface="Arial" panose="020B0604020202020204" pitchFamily="34" charset="0"/>
                  <a:sym typeface="Calibri"/>
                </a:rPr>
                <a:t>user</a:t>
              </a:r>
              <a:endParaRPr lang="en-US" sz="1100" b="1" dirty="0">
                <a:solidFill>
                  <a:srgbClr val="000000"/>
                </a:solidFill>
                <a:latin typeface="Arial" panose="020B0604020202020204" pitchFamily="34" charset="0"/>
                <a:cs typeface="Arial" panose="020B0604020202020204" pitchFamily="34" charset="0"/>
                <a:sym typeface="Calibri"/>
              </a:endParaRPr>
            </a:p>
          </p:txBody>
        </p:sp>
        <p:sp>
          <p:nvSpPr>
            <p:cNvPr id="16" name="TextBox 15"/>
            <p:cNvSpPr txBox="1"/>
            <p:nvPr/>
          </p:nvSpPr>
          <p:spPr>
            <a:xfrm>
              <a:off x="7069279" y="4746831"/>
              <a:ext cx="1605929" cy="6924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smtClean="0">
                  <a:ln>
                    <a:noFill/>
                  </a:ln>
                  <a:solidFill>
                    <a:srgbClr val="000000"/>
                  </a:solidFill>
                  <a:effectLst/>
                  <a:uFillTx/>
                  <a:latin typeface="Arial" panose="020B0604020202020204" pitchFamily="34" charset="0"/>
                  <a:cs typeface="Arial" panose="020B0604020202020204" pitchFamily="34" charset="0"/>
                  <a:sym typeface="Calibri"/>
                </a:rPr>
                <a:t>DB</a:t>
              </a:r>
              <a:endParaRPr kumimoji="0" lang="en-US" sz="1200" b="1" i="0" u="none" strike="noStrike" cap="none" spc="0" normalizeH="0" baseline="0" dirty="0" smtClean="0">
                <a:ln>
                  <a:noFill/>
                </a:ln>
                <a:solidFill>
                  <a:srgbClr val="000000"/>
                </a:solidFill>
                <a:effectLst/>
                <a:uFillTx/>
                <a:latin typeface="Arial" panose="020B0604020202020204" pitchFamily="34" charset="0"/>
                <a:cs typeface="Arial" panose="020B0604020202020204" pitchFamily="34" charset="0"/>
                <a:sym typeface="Calibri"/>
              </a:endParaRPr>
            </a:p>
            <a:p>
              <a:pPr marL="0" marR="0" indent="0" algn="ctr" defTabSz="457200" rtl="0" fontAlgn="auto" latinLnBrk="0" hangingPunct="0">
                <a:lnSpc>
                  <a:spcPct val="100000"/>
                </a:lnSpc>
                <a:spcBef>
                  <a:spcPts val="0"/>
                </a:spcBef>
                <a:spcAft>
                  <a:spcPts val="0"/>
                </a:spcAft>
                <a:buClrTx/>
                <a:buSzTx/>
                <a:buFontTx/>
                <a:buNone/>
                <a:tabLst/>
              </a:pPr>
              <a:endParaRPr lang="en-US" sz="300" dirty="0">
                <a:solidFill>
                  <a:srgbClr val="000000"/>
                </a:solidFill>
                <a:latin typeface="Arial" panose="020B0604020202020204" pitchFamily="34" charset="0"/>
                <a:cs typeface="Arial" panose="020B0604020202020204" pitchFamily="34" charset="0"/>
                <a:sym typeface="Calibri"/>
              </a:endParaRPr>
            </a:p>
            <a:p>
              <a:pPr marL="0" marR="0" indent="0" defTabSz="457200" rtl="0" fontAlgn="auto" latinLnBrk="0" hangingPunct="0">
                <a:lnSpc>
                  <a:spcPct val="100000"/>
                </a:lnSpc>
                <a:spcBef>
                  <a:spcPts val="0"/>
                </a:spcBef>
                <a:spcAft>
                  <a:spcPts val="0"/>
                </a:spcAft>
                <a:buClrTx/>
                <a:buSzTx/>
                <a:buFontTx/>
                <a:buNone/>
                <a:tabLst/>
              </a:pPr>
              <a:r>
                <a:rPr kumimoji="0" lang="en-US" sz="1200" i="0" u="none" strike="noStrike" cap="none" spc="0" normalizeH="0" baseline="0" dirty="0" smtClean="0">
                  <a:ln>
                    <a:noFill/>
                  </a:ln>
                  <a:solidFill>
                    <a:srgbClr val="000000"/>
                  </a:solidFill>
                  <a:effectLst/>
                  <a:uFillTx/>
                  <a:latin typeface="Arial" panose="020B0604020202020204" pitchFamily="34" charset="0"/>
                  <a:cs typeface="Arial" panose="020B0604020202020204" pitchFamily="34" charset="0"/>
                  <a:sym typeface="Calibri"/>
                </a:rPr>
                <a:t>User, product and search history</a:t>
              </a:r>
              <a:endParaRPr kumimoji="0" lang="en-US" sz="120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Calibri"/>
              </a:endParaRPr>
            </a:p>
          </p:txBody>
        </p:sp>
        <p:sp>
          <p:nvSpPr>
            <p:cNvPr id="17" name="Rounded Rectangle 16"/>
            <p:cNvSpPr/>
            <p:nvPr/>
          </p:nvSpPr>
          <p:spPr>
            <a:xfrm>
              <a:off x="6975033" y="4641053"/>
              <a:ext cx="1646869" cy="914400"/>
            </a:xfrm>
            <a:prstGeom prst="roundRect">
              <a:avLst>
                <a:gd name="adj" fmla="val 4675"/>
              </a:avLst>
            </a:prstGeom>
            <a:noFill/>
            <a:ln w="28575">
              <a:solidFill>
                <a:srgbClr val="00B0F0"/>
              </a:solidFill>
            </a:ln>
            <a:effectLst/>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cxnSp>
          <p:nvCxnSpPr>
            <p:cNvPr id="18" name="Straight Arrow Connector 17"/>
            <p:cNvCxnSpPr/>
            <p:nvPr/>
          </p:nvCxnSpPr>
          <p:spPr>
            <a:xfrm flipH="1" flipV="1">
              <a:off x="6777647" y="5093080"/>
              <a:ext cx="193075" cy="2771"/>
            </a:xfrm>
            <a:prstGeom prst="straightConnector1">
              <a:avLst/>
            </a:prstGeom>
            <a:noFill/>
            <a:ln w="19050" cap="flat">
              <a:solidFill>
                <a:schemeClr val="tx1"/>
              </a:solidFill>
              <a:prstDash val="solid"/>
              <a:round/>
              <a:headEnd type="triangle"/>
              <a:tailEnd type="triangle"/>
            </a:ln>
            <a:effectLst/>
            <a:sp3d/>
          </p:spPr>
          <p:style>
            <a:lnRef idx="0">
              <a:scrgbClr r="0" g="0" b="0"/>
            </a:lnRef>
            <a:fillRef idx="0">
              <a:scrgbClr r="0" g="0" b="0"/>
            </a:fillRef>
            <a:effectRef idx="0">
              <a:scrgbClr r="0" g="0" b="0"/>
            </a:effectRef>
            <a:fontRef idx="none"/>
          </p:style>
        </p:cxnSp>
        <p:sp>
          <p:nvSpPr>
            <p:cNvPr id="19" name="TextBox 18"/>
            <p:cNvSpPr txBox="1"/>
            <p:nvPr/>
          </p:nvSpPr>
          <p:spPr>
            <a:xfrm>
              <a:off x="7003964" y="3780179"/>
              <a:ext cx="1605929"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lnSpc>
                  <a:spcPct val="100000"/>
                </a:lnSpc>
                <a:spcBef>
                  <a:spcPts val="0"/>
                </a:spcBef>
                <a:spcAft>
                  <a:spcPts val="0"/>
                </a:spcAft>
                <a:buClrTx/>
                <a:buSzTx/>
                <a:buFontTx/>
                <a:buNone/>
                <a:tabLst/>
              </a:pPr>
              <a:r>
                <a:rPr lang="en-US" sz="1200" b="1" dirty="0" smtClean="0">
                  <a:solidFill>
                    <a:srgbClr val="000000"/>
                  </a:solidFill>
                  <a:latin typeface="Arial" panose="020B0604020202020204" pitchFamily="34" charset="0"/>
                  <a:cs typeface="Arial" panose="020B0604020202020204" pitchFamily="34" charset="0"/>
                  <a:sym typeface="Calibri"/>
                </a:rPr>
                <a:t>Recommendation module</a:t>
              </a:r>
              <a:endParaRPr kumimoji="0" lang="en-US" sz="1200" b="1" i="0" u="none" strike="noStrike" cap="none" spc="0" normalizeH="0" baseline="0" dirty="0" smtClean="0">
                <a:ln>
                  <a:noFill/>
                </a:ln>
                <a:solidFill>
                  <a:srgbClr val="000000"/>
                </a:solidFill>
                <a:effectLst/>
                <a:uFillTx/>
                <a:latin typeface="Arial" panose="020B0604020202020204" pitchFamily="34" charset="0"/>
                <a:cs typeface="Arial" panose="020B0604020202020204" pitchFamily="34" charset="0"/>
                <a:sym typeface="Calibri"/>
              </a:endParaRPr>
            </a:p>
          </p:txBody>
        </p:sp>
        <p:sp>
          <p:nvSpPr>
            <p:cNvPr id="20" name="Rounded Rectangle 19"/>
            <p:cNvSpPr/>
            <p:nvPr/>
          </p:nvSpPr>
          <p:spPr>
            <a:xfrm>
              <a:off x="6975032" y="3569897"/>
              <a:ext cx="1646869" cy="914400"/>
            </a:xfrm>
            <a:prstGeom prst="roundRect">
              <a:avLst>
                <a:gd name="adj" fmla="val 4675"/>
              </a:avLst>
            </a:prstGeom>
            <a:noFill/>
            <a:ln w="28575">
              <a:solidFill>
                <a:srgbClr val="00B0F0"/>
              </a:solidFill>
            </a:ln>
            <a:effectLst/>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cxnSp>
          <p:nvCxnSpPr>
            <p:cNvPr id="21" name="Straight Arrow Connector 20"/>
            <p:cNvCxnSpPr>
              <a:stCxn id="17" idx="0"/>
              <a:endCxn id="20" idx="2"/>
            </p:cNvCxnSpPr>
            <p:nvPr/>
          </p:nvCxnSpPr>
          <p:spPr>
            <a:xfrm rot="16200000" flipV="1">
              <a:off x="7720090" y="4562674"/>
              <a:ext cx="156756" cy="1"/>
            </a:xfrm>
            <a:prstGeom prst="straightConnector1">
              <a:avLst/>
            </a:prstGeom>
            <a:noFill/>
            <a:ln w="19050" cap="flat">
              <a:solidFill>
                <a:schemeClr val="tx1"/>
              </a:solidFill>
              <a:prstDash val="solid"/>
              <a:round/>
              <a:headEnd type="triangle"/>
              <a:tailEnd type="triangle"/>
            </a:ln>
            <a:effectLst/>
            <a:sp3d/>
          </p:spPr>
          <p:style>
            <a:lnRef idx="0">
              <a:scrgbClr r="0" g="0" b="0"/>
            </a:lnRef>
            <a:fillRef idx="0">
              <a:scrgbClr r="0" g="0" b="0"/>
            </a:fillRef>
            <a:effectRef idx="0">
              <a:scrgbClr r="0" g="0" b="0"/>
            </a:effectRef>
            <a:fontRef idx="none"/>
          </p:style>
        </p:cxnSp>
        <p:sp>
          <p:nvSpPr>
            <p:cNvPr id="22" name="TextBox 21"/>
            <p:cNvSpPr txBox="1"/>
            <p:nvPr/>
          </p:nvSpPr>
          <p:spPr>
            <a:xfrm>
              <a:off x="6791515" y="2723487"/>
              <a:ext cx="1760557"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sz="1100" b="1" dirty="0" smtClean="0">
                  <a:solidFill>
                    <a:srgbClr val="000000"/>
                  </a:solidFill>
                  <a:latin typeface="Arial" panose="020B0604020202020204" pitchFamily="34" charset="0"/>
                  <a:cs typeface="Arial" panose="020B0604020202020204" pitchFamily="34" charset="0"/>
                  <a:sym typeface="Calibri"/>
                </a:rPr>
                <a:t>Refined content</a:t>
              </a:r>
              <a:endParaRPr lang="en-US" sz="1100" dirty="0">
                <a:solidFill>
                  <a:srgbClr val="000000"/>
                </a:solidFill>
                <a:latin typeface="Arial" panose="020B0604020202020204" pitchFamily="34" charset="0"/>
                <a:cs typeface="Arial" panose="020B0604020202020204" pitchFamily="34" charset="0"/>
                <a:sym typeface="Calibri"/>
              </a:endParaRPr>
            </a:p>
          </p:txBody>
        </p:sp>
        <p:sp>
          <p:nvSpPr>
            <p:cNvPr id="23" name="Rounded Rectangle 22"/>
            <p:cNvSpPr/>
            <p:nvPr/>
          </p:nvSpPr>
          <p:spPr>
            <a:xfrm>
              <a:off x="6791513" y="2637135"/>
              <a:ext cx="1760565" cy="398589"/>
            </a:xfrm>
            <a:prstGeom prst="roundRect">
              <a:avLst/>
            </a:prstGeom>
            <a:noFill/>
            <a:ln>
              <a:solidFill>
                <a:schemeClr val="accent6"/>
              </a:solidFill>
            </a:ln>
            <a:effectLst/>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cxnSp>
          <p:nvCxnSpPr>
            <p:cNvPr id="24" name="Straight Arrow Connector 23"/>
            <p:cNvCxnSpPr/>
            <p:nvPr/>
          </p:nvCxnSpPr>
          <p:spPr>
            <a:xfrm flipH="1">
              <a:off x="7658734" y="3092638"/>
              <a:ext cx="3796" cy="445833"/>
            </a:xfrm>
            <a:prstGeom prst="straightConnector1">
              <a:avLst/>
            </a:prstGeom>
            <a:noFill/>
            <a:ln w="19050" cap="flat">
              <a:solidFill>
                <a:schemeClr val="accent6"/>
              </a:solidFill>
              <a:prstDash val="solid"/>
              <a:round/>
              <a:headEnd type="triangle"/>
              <a:tailEnd type="triangle"/>
            </a:ln>
            <a:effectLst/>
            <a:sp3d/>
          </p:spPr>
          <p:style>
            <a:lnRef idx="0">
              <a:scrgbClr r="0" g="0" b="0"/>
            </a:lnRef>
            <a:fillRef idx="0">
              <a:scrgbClr r="0" g="0" b="0"/>
            </a:fillRef>
            <a:effectRef idx="0">
              <a:scrgbClr r="0" g="0" b="0"/>
            </a:effectRef>
            <a:fontRef idx="none"/>
          </p:style>
        </p:cxnSp>
        <p:cxnSp>
          <p:nvCxnSpPr>
            <p:cNvPr id="25" name="Straight Arrow Connector 24"/>
            <p:cNvCxnSpPr>
              <a:stCxn id="68" idx="6"/>
              <a:endCxn id="23" idx="1"/>
            </p:cNvCxnSpPr>
            <p:nvPr/>
          </p:nvCxnSpPr>
          <p:spPr>
            <a:xfrm flipV="1">
              <a:off x="6354067" y="2836430"/>
              <a:ext cx="437446" cy="5837"/>
            </a:xfrm>
            <a:prstGeom prst="straightConnector1">
              <a:avLst/>
            </a:prstGeom>
            <a:noFill/>
            <a:ln w="19050" cap="flat">
              <a:solidFill>
                <a:schemeClr val="accent6"/>
              </a:solidFill>
              <a:prstDash val="solid"/>
              <a:round/>
              <a:headEnd type="triangle"/>
              <a:tailEnd type="triangle"/>
            </a:ln>
            <a:effectLst/>
            <a:sp3d/>
          </p:spPr>
          <p:style>
            <a:lnRef idx="0">
              <a:scrgbClr r="0" g="0" b="0"/>
            </a:lnRef>
            <a:fillRef idx="0">
              <a:scrgbClr r="0" g="0" b="0"/>
            </a:fillRef>
            <a:effectRef idx="0">
              <a:scrgbClr r="0" g="0" b="0"/>
            </a:effectRef>
            <a:fontRef idx="none"/>
          </p:style>
        </p:cxnSp>
      </p:grpSp>
    </p:spTree>
    <p:extLst>
      <p:ext uri="{BB962C8B-B14F-4D97-AF65-F5344CB8AC3E}">
        <p14:creationId xmlns="" xmlns:p14="http://schemas.microsoft.com/office/powerpoint/2010/main" val="1824212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Recommendation Types</a:t>
            </a:r>
            <a:endParaRPr lang="en-US" dirty="0"/>
          </a:p>
        </p:txBody>
      </p:sp>
      <p:sp>
        <p:nvSpPr>
          <p:cNvPr id="3" name="TextBox 2"/>
          <p:cNvSpPr txBox="1"/>
          <p:nvPr/>
        </p:nvSpPr>
        <p:spPr>
          <a:xfrm>
            <a:off x="1293223" y="2246811"/>
            <a:ext cx="5199017" cy="1200329"/>
          </a:xfrm>
          <a:prstGeom prst="rect">
            <a:avLst/>
          </a:prstGeom>
          <a:noFill/>
        </p:spPr>
        <p:txBody>
          <a:bodyPr wrap="square" rtlCol="0">
            <a:spAutoFit/>
          </a:bodyPr>
          <a:lstStyle/>
          <a:p>
            <a:pPr>
              <a:buFont typeface="Arial" pitchFamily="34" charset="0"/>
              <a:buChar char="•"/>
            </a:pPr>
            <a:r>
              <a:rPr lang="en-US" dirty="0" smtClean="0"/>
              <a:t> Content based</a:t>
            </a:r>
          </a:p>
          <a:p>
            <a:pPr>
              <a:buFont typeface="Arial" pitchFamily="34" charset="0"/>
              <a:buChar char="•"/>
            </a:pPr>
            <a:r>
              <a:rPr lang="en-US" dirty="0" smtClean="0"/>
              <a:t> Collaborative filtering</a:t>
            </a:r>
          </a:p>
          <a:p>
            <a:pPr marL="457200">
              <a:buFont typeface="Courier New" pitchFamily="49" charset="0"/>
              <a:buChar char="o"/>
            </a:pPr>
            <a:r>
              <a:rPr lang="en-US" dirty="0" smtClean="0"/>
              <a:t> user-user</a:t>
            </a:r>
          </a:p>
          <a:p>
            <a:pPr lvl="1">
              <a:buFont typeface="Courier New" pitchFamily="49" charset="0"/>
              <a:buChar char="o"/>
            </a:pPr>
            <a:r>
              <a:rPr lang="en-US" dirty="0" smtClean="0"/>
              <a:t> item-item</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ym typeface="Arial"/>
              </a:rPr>
              <a:t>Possible Improvement </a:t>
            </a:r>
            <a:endParaRPr lang="en-US" dirty="0"/>
          </a:p>
        </p:txBody>
      </p:sp>
      <p:sp>
        <p:nvSpPr>
          <p:cNvPr id="3" name="Rectangle 2"/>
          <p:cNvSpPr/>
          <p:nvPr/>
        </p:nvSpPr>
        <p:spPr>
          <a:xfrm>
            <a:off x="1316183" y="1982438"/>
            <a:ext cx="10332962" cy="1343445"/>
          </a:xfrm>
          <a:prstGeom prst="rect">
            <a:avLst/>
          </a:prstGeom>
        </p:spPr>
        <p:txBody>
          <a:bodyPr wrap="square">
            <a:spAutoFit/>
          </a:bodyPr>
          <a:lstStyle/>
          <a:p>
            <a:pPr>
              <a:lnSpc>
                <a:spcPct val="110000"/>
              </a:lnSpc>
              <a:spcBef>
                <a:spcPts val="300"/>
              </a:spcBef>
              <a:spcAft>
                <a:spcPts val="300"/>
              </a:spcAft>
            </a:pPr>
            <a:r>
              <a:rPr lang="en-US" sz="1600" dirty="0"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The current solution can be improved by:</a:t>
            </a:r>
          </a:p>
          <a:p>
            <a:pPr marL="285750" indent="-285750">
              <a:lnSpc>
                <a:spcPct val="110000"/>
              </a:lnSpc>
              <a:spcBef>
                <a:spcPts val="300"/>
              </a:spcBef>
              <a:spcAft>
                <a:spcPts val="300"/>
              </a:spcAft>
              <a:buFont typeface="Arial" panose="020B0604020202020204" pitchFamily="34" charset="0"/>
              <a:buChar char="•"/>
            </a:pPr>
            <a:r>
              <a:rPr lang="en-US" sz="1600" dirty="0"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Capturing additional details like color, fit, size etc</a:t>
            </a:r>
            <a:endParaRPr lang="en-US" sz="1600" dirty="0"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endParaRPr>
          </a:p>
          <a:p>
            <a:pPr marL="285750" indent="-285750">
              <a:lnSpc>
                <a:spcPct val="110000"/>
              </a:lnSpc>
              <a:spcBef>
                <a:spcPts val="300"/>
              </a:spcBef>
              <a:spcAft>
                <a:spcPts val="300"/>
              </a:spcAft>
              <a:buFont typeface="Arial" panose="020B0604020202020204" pitchFamily="34" charset="0"/>
              <a:buChar char="•"/>
            </a:pPr>
            <a:r>
              <a:rPr lang="en-US" sz="1600" dirty="0"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Training with more number </a:t>
            </a:r>
            <a:r>
              <a:rPr lang="en-US" sz="1600" dirty="0"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 </a:t>
            </a:r>
            <a:r>
              <a:rPr lang="en-US" sz="1600" dirty="0" smtClean="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of samples to get more accurate recommendations</a:t>
            </a:r>
            <a:r>
              <a:rPr lang="en-US" sz="1600" dirty="0">
                <a:solidFill>
                  <a:schemeClr val="tx1">
                    <a:lumMod val="75000"/>
                    <a:lumOff val="25000"/>
                  </a:schemeClr>
                </a:solidFill>
                <a:latin typeface="Calibri" panose="020F0502020204030204" pitchFamily="34" charset="0"/>
                <a:ea typeface="Calibri" panose="020F0502020204030204" pitchFamily="34" charset="0"/>
                <a:cs typeface="Arial" panose="020B0604020202020204" pitchFamily="34" charset="0"/>
              </a:rPr>
              <a:t> </a:t>
            </a:r>
          </a:p>
          <a:p>
            <a:endParaRPr lang="en-US" sz="1600" dirty="0">
              <a:solidFill>
                <a:schemeClr val="tx1">
                  <a:lumMod val="75000"/>
                  <a:lumOff val="25000"/>
                </a:schemeClr>
              </a:solidFill>
              <a:latin typeface="Calibri" panose="020F0502020204030204" pitchFamily="34" charset="0"/>
            </a:endParaRPr>
          </a:p>
        </p:txBody>
      </p:sp>
    </p:spTree>
    <p:extLst>
      <p:ext uri="{BB962C8B-B14F-4D97-AF65-F5344CB8AC3E}">
        <p14:creationId xmlns="" xmlns:p14="http://schemas.microsoft.com/office/powerpoint/2010/main" val="2089302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102098" y="1172712"/>
            <a:ext cx="6709543" cy="3840480"/>
          </a:xfrm>
          <a:prstGeom prst="rect">
            <a:avLst/>
          </a:prstGeom>
        </p:spPr>
      </p:pic>
    </p:spTree>
    <p:extLst>
      <p:ext uri="{BB962C8B-B14F-4D97-AF65-F5344CB8AC3E}">
        <p14:creationId xmlns="" xmlns:p14="http://schemas.microsoft.com/office/powerpoint/2010/main" val="34560531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347</TotalTime>
  <Words>215</Words>
  <Application>Microsoft Office PowerPoint</Application>
  <PresentationFormat>Custom</PresentationFormat>
  <Paragraphs>48</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Integral</vt:lpstr>
      <vt:lpstr>Recommendations</vt:lpstr>
      <vt:lpstr>Team and Use Case</vt:lpstr>
      <vt:lpstr>Tools &amp; technology</vt:lpstr>
      <vt:lpstr>Use Case</vt:lpstr>
      <vt:lpstr>Solution Summary</vt:lpstr>
      <vt:lpstr>High level solution</vt:lpstr>
      <vt:lpstr>Recommendation Types</vt:lpstr>
      <vt:lpstr>Possible Improvement </vt:lpstr>
      <vt:lpstr>Slide 9</vt:lpstr>
    </vt:vector>
  </TitlesOfParts>
  <Company>Infosys Ltd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Anumula Anudeep</dc:creator>
  <cp:lastModifiedBy>HOME</cp:lastModifiedBy>
  <cp:revision>60</cp:revision>
  <dcterms:created xsi:type="dcterms:W3CDTF">2018-05-02T08:26:16Z</dcterms:created>
  <dcterms:modified xsi:type="dcterms:W3CDTF">2018-06-08T03:56:07Z</dcterms:modified>
</cp:coreProperties>
</file>